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23cf15a9ce4890" /><Relationship Type="http://schemas.openxmlformats.org/officeDocument/2006/relationships/extended-properties" Target="/docProps/app.xml" Id="Ra944b9b75ee8407a" /><Relationship Type="http://schemas.openxmlformats.org/officeDocument/2006/relationships/officeDocument" Target="/ppt/presentation.xml" Id="R667f25b1c0ec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5f592407494a4d"/>
  </p:sldMasterIdLst>
  <p:notesMasterIdLst>
    <p:notesMasterId xmlns:r="http://schemas.openxmlformats.org/officeDocument/2006/relationships" r:id="R09bc17da90b64aea"/>
  </p:notesMasterIdLst>
  <p:sldIdLst>
    <p:sldId xmlns:r="http://schemas.openxmlformats.org/officeDocument/2006/relationships" id="256" r:id="Rb0f2eb2399bb4fd5"/>
    <p:sldId xmlns:r="http://schemas.openxmlformats.org/officeDocument/2006/relationships" id="257" r:id="R1d00e355c313422a"/>
    <p:sldId xmlns:r="http://schemas.openxmlformats.org/officeDocument/2006/relationships" id="258" r:id="R035ce09fe9eb4376"/>
    <p:sldId xmlns:r="http://schemas.openxmlformats.org/officeDocument/2006/relationships" id="259" r:id="R3d1b389289cd4f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0eb2139f9842e8" /><Relationship Type="http://schemas.openxmlformats.org/officeDocument/2006/relationships/slideMaster" Target="/ppt/slideMasters/slideMaster1.xml" Id="Rcd5f592407494a4d" /><Relationship Type="http://schemas.openxmlformats.org/officeDocument/2006/relationships/notesMaster" Target="/ppt/notesMasters/notesMaster1.xml" Id="R09bc17da90b64aea" /><Relationship Type="http://schemas.openxmlformats.org/officeDocument/2006/relationships/presProps" Target="/ppt/presProps.xml" Id="R91f1802f79214f3c" /><Relationship Type="http://schemas.openxmlformats.org/officeDocument/2006/relationships/tableStyles" Target="/ppt/tableStyles.xml" Id="Rce01963ef9644372" /><Relationship Type="http://schemas.openxmlformats.org/officeDocument/2006/relationships/slide" Target="/ppt/slides/slide1.xml" Id="Rb0f2eb2399bb4fd5" /><Relationship Type="http://schemas.openxmlformats.org/officeDocument/2006/relationships/slide" Target="/ppt/slides/slide2.xml" Id="R1d00e355c313422a" /><Relationship Type="http://schemas.openxmlformats.org/officeDocument/2006/relationships/slide" Target="/ppt/slides/slide3.xml" Id="R035ce09fe9eb4376" /><Relationship Type="http://schemas.openxmlformats.org/officeDocument/2006/relationships/slide" Target="/ppt/slides/slide4.xml" Id="R3d1b389289cd4f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0434e690ff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1bb2a195ca4c61" /><Relationship Type="http://schemas.openxmlformats.org/officeDocument/2006/relationships/notesMaster" Target="/ppt/notesMasters/notesMaster1.xml" Id="R29089d12c79843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69592d18394b0d" /><Relationship Type="http://schemas.openxmlformats.org/officeDocument/2006/relationships/notesMaster" Target="/ppt/notesMasters/notesMaster1.xml" Id="Rdf7eac7c644f4c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c62ed9eb6a4c3a" /><Relationship Type="http://schemas.openxmlformats.org/officeDocument/2006/relationships/notesMaster" Target="/ppt/notesMasters/notesMaster1.xml" Id="Rf03d4c37439741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24951aab3f491e" /><Relationship Type="http://schemas.openxmlformats.org/officeDocument/2006/relationships/notesMaster" Target="/ppt/notesMasters/notesMaster1.xml" Id="Rae7200189cd54e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94be6fb2bd4f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129c81b464e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91b03fd6e45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52018200240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fef6cffb24b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0627bd2c8c40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2955B4-5451-4EF9-AC41-08634C32E0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C0DA0C-BFD2-45AA-AC25-AD80E45723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F89610-49D9-4968-9853-27F3830DE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6DEE8A-DAAB-405E-87C1-6F0B6FB98D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E7770A-E31E-451B-B2D9-2589ACD22C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83B034-533B-4B9B-9452-05BC3BC8BE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947395-17AD-4BD5-845F-FFACA11371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878C59-91C7-4F12-8B73-8796BACD66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EBFFDB-E9AB-4441-8179-C69C4585C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53FF9C-B53F-46B1-9AA5-D97C80D75C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0df70685d54a7e" /><Relationship Type="http://schemas.openxmlformats.org/officeDocument/2006/relationships/slideLayout" Target="/ppt/slideLayouts/slideLayout1.xml" Id="R9e531e69496d44ea" /><Relationship Type="http://schemas.openxmlformats.org/officeDocument/2006/relationships/slideLayout" Target="/ppt/slideLayouts/slideLayout2.xml" Id="R69baed1d57df4c23" /><Relationship Type="http://schemas.openxmlformats.org/officeDocument/2006/relationships/slideLayout" Target="/ppt/slideLayouts/slideLayout3.xml" Id="Rba42cc9ea0994a94" /><Relationship Type="http://schemas.openxmlformats.org/officeDocument/2006/relationships/slideLayout" Target="/ppt/slideLayouts/slideLayout4.xml" Id="R82af6c0a01224772" /><Relationship Type="http://schemas.openxmlformats.org/officeDocument/2006/relationships/slideLayout" Target="/ppt/slideLayouts/slideLayout5.xml" Id="R529477a0c39f4a15" /><Relationship Type="http://schemas.openxmlformats.org/officeDocument/2006/relationships/slideLayout" Target="/ppt/slideLayouts/slideLayout6.xml" Id="R00ab4a02f0d240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531e69496d44ea"/>
    <p:sldLayoutId xmlns:r="http://schemas.openxmlformats.org/officeDocument/2006/relationships" id="2147483650" r:id="R69baed1d57df4c23"/>
    <p:sldLayoutId xmlns:r="http://schemas.openxmlformats.org/officeDocument/2006/relationships" id="2147483651" r:id="Rba42cc9ea0994a94"/>
    <p:sldLayoutId xmlns:r="http://schemas.openxmlformats.org/officeDocument/2006/relationships" id="2147483652" r:id="R82af6c0a01224772"/>
    <p:sldLayoutId xmlns:r="http://schemas.openxmlformats.org/officeDocument/2006/relationships" id="2147483653" r:id="R529477a0c39f4a15"/>
    <p:sldLayoutId xmlns:r="http://schemas.openxmlformats.org/officeDocument/2006/relationships" id="2147483654" r:id="R00ab4a02f0d240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ab0808e804143" /><Relationship Type="http://schemas.openxmlformats.org/officeDocument/2006/relationships/image" Target="/ppt/media/image.jpeg" Id="R86f2845931654fca" /><Relationship Type="http://schemas.openxmlformats.org/officeDocument/2006/relationships/notesSlide" Target="/ppt/notesSlides/notesSlide1.xml" Id="R1c72b36ff9ba4c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2dfe3933a842bd" /><Relationship Type="http://schemas.openxmlformats.org/officeDocument/2006/relationships/image" Target="/ppt/media/image2.jpeg" Id="R91025844794e4e83" /><Relationship Type="http://schemas.openxmlformats.org/officeDocument/2006/relationships/notesSlide" Target="/ppt/notesSlides/notesSlide2.xml" Id="R7b74686702e143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074c91a0fe42a3" /><Relationship Type="http://schemas.openxmlformats.org/officeDocument/2006/relationships/chart" Target="/ppt/slides/charts/chart1.xml" Id="R45e41e0853ff4296" /><Relationship Type="http://schemas.openxmlformats.org/officeDocument/2006/relationships/notesSlide" Target="/ppt/notesSlides/notesSlide3.xml" Id="R437daa145eb24e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5ab6587ce4900" /><Relationship Type="http://schemas.openxmlformats.org/officeDocument/2006/relationships/notesSlide" Target="/ppt/notesSlides/notesSlide4.xml" Id="Re776c0e394094af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Helvetica Neue"/>
                <a:ea typeface="Helvetica Neue"/>
                <a:cs typeface="Helvetica Neue"/>
              </a:rPr>
              <a:t>Paired latency speedup by experiment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Candidate / reference</c:v>
          </c:tx>
          <c:spPr>
            <a:solidFill xmlns:a="http://schemas.openxmlformats.org/drawingml/2006/main">
              <a:srgbClr val="347D70"/>
            </a:solidFill>
          </c:spPr>
          <c:marker>
            <c:symbol val="none"/>
          </c:marker>
          <c:cat>
            <c:strRef>
              <c:f>'Chart Data'!$A$2:$A$5</c:f>
              <c:strCache>
                <c:ptCount val="4"/>
                <c:pt idx="0">
                  <c:v>Baseline</c:v>
                </c:pt>
                <c:pt idx="1">
                  <c:v>Batch formation</c:v>
                </c:pt>
                <c:pt idx="2">
                  <c:v>Reuse spans</c:v>
                </c:pt>
                <c:pt idx="3">
                  <c:v>Regression</c:v>
                </c:pt>
              </c:strCache>
            </c:strRef>
          </c:cat>
          <c:val>
            <c:numRef>
              <c:f>'Chart Data'!$B$2:$B$5</c:f>
              <c:numCache>
                <c:formatCode>0.0"×"</c:formatCode>
                <c:ptCount val="4"/>
                <c:pt idx="0">
                  <c:v>1</c:v>
                </c:pt>
                <c:pt idx="1">
                  <c:v>1.18</c:v>
                </c:pt>
                <c:pt idx="2">
                  <c:v>1.36</c:v>
                </c:pt>
                <c:pt idx="3">
                  <c:v>1.31</c:v>
                </c:pt>
              </c:numCache>
            </c:numRef>
          </c:val>
        </c:ser>
        <c:dLbls>
          <c:numFmt formatCode="0.00&quot;×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DE"/>
              </a:solidFill>
            </a:ln>
          </c:spPr>
        </c:majorGridlines>
        <c:numFmt formatCode="0.0&quot;×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46F1B-88AE-4B8E-B03C-F9E94440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serve—observe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FC73A-B3BD-425F-A4DF-C2FE9974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86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See what your inference changes improve.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B548C-B703-4B09-8828-19F4CEB7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OPEN SOURCE  /  INFERENCE PERFORMANCE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4A553-664E-4A9A-93F3-CBED9036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3A75B-EE2A-4014-88CC-D6D649F6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4095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Compare a baseline with a candidate.</a:t>
            </a:r>
          </a:p>
          <a:p xmlns:a="http://schemas.openxmlformats.org/drawingml/2006/main">
            <a:pPr>
              <a:defRPr sz="22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Keep the evidence behind every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BB20D-E85B-489D-9AAB-EA4E4218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Paired latency and throughput</a:t>
            </a:r>
          </a:p>
          <a:p xmlns:a="http://schemas.openxmlformats.org/drawingml/2006/main">
            <a: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GPU activity alongside request demand</a:t>
            </a:r>
          </a:p>
          <a:p xmlns:a="http://schemas.openxmlformats.org/drawingml/2006/main">
            <a: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Experiment history and structured exports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2A060-520C-47EC-9A2E-EED08E98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Self-hosted Python library + dashboard</a:t>
            </a:r>
          </a:p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No account. No hosted telemetry service.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A2306-AED9-445C-8107-E1D8367E36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2845931654fca"/>
          <a:stretch xmlns:a="http://schemas.openxmlformats.org/drawingml/2006/main"/>
        </p:blipFill>
        <p:spPr>
          <a:xfrm xmlns:a="http://schemas.openxmlformats.org/drawingml/2006/main">
            <a:off x="5181244" y="1762125"/>
            <a:ext cx="6163387" cy="4333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97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7F860-1D83-44CE-850C-BBDA83BB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serve—observe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0AF6C-43D4-474C-986C-73D0E3EB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86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Two deployments. One view of the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2DE3E-3749-43C1-80F0-73D15DC2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OPEN SOURCE  /  INFERENCE PERFORMANCE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D8B06-E012-4F8B-B469-54F109C3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E1CB7-C654-451B-BCB7-24EE21231D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25844794e4e83"/>
          <a:stretch xmlns:a="http://schemas.openxmlformats.org/drawingml/2006/main"/>
        </p:blipFill>
        <p:spPr>
          <a:xfrm xmlns:a="http://schemas.openxmlformats.org/drawingml/2006/main">
            <a:off x="1209846" y="1714500"/>
            <a:ext cx="6095657" cy="4286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05233-4ADB-40BE-AFD6-73922D68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Where is capacity going?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ADC17-5FEF-4271-94EE-EF281EA0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14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Compare GPU engine activity and estimated inactivity on covered intervals.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EE193-B4A8-4973-969F-C0355847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100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Missing data reduces coverage.</a:t>
            </a:r>
          </a:p>
          <a:p xmlns:a="http://schemas.openxmlformats.org/drawingml/2006/main">
            <a:pPr>
              <a:defRPr sz="16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Idle with demand is a clue to investigate, not a diagnosis.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5B8B3-28BB-45DE-97C5-0BF9C0DD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197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SCREENSHOT: SYNTHETIC DEMO</a:t>
            </a:r>
          </a:p>
        </p:txBody>
      </p:sp>
    </p:spTree>
    <p:extLst>
      <p:ext uri="{BB962C8B-B14F-4D97-AF65-F5344CB8AC3E}">
        <p14:creationId xmlns:p14="http://schemas.microsoft.com/office/powerpoint/2010/main" val="1468487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E7796-D628-4765-9672-96453F1F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serve—observe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368C6-989A-4B04-B118-2A793C9D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86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Make every experiment reviewable.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56572-F14E-41E8-BC2D-82584B24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OPEN SOURCE  /  INFERENCE PERFORMANCE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D4494-7C63-4341-9A64-E3E9B4FC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21CEA5F-C0D5-455C-8A67-BEA6DB5B360D}"/>
              </a:ext>
            </a:extLst>
          </p:cNvPr>
          <p:cNvGraphicFramePr/>
          <p:nvPr/>
        </p:nvGraphicFramePr>
        <p:xfrm>
          <a:off xmlns:a="http://schemas.openxmlformats.org/drawingml/2006/main" x="495300" y="19050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e41e0853ff429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045DB-E346-4BFC-8221-4B4B1C04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955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1× = parity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23C83-5885-43C8-8B34-6F2F9109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05125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Each point compares one candidate with its own paired reference.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A5530-EEE4-422A-AD73-71ABF752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3000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Retain regressions. Verify output agreement. Use a fixed workload and latency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2FA28-8CB7-4312-A59B-B0674C22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ILLUSTRATIVE DATA — NOT MEASURED GAINS</a:t>
            </a:r>
          </a:p>
        </p:txBody>
      </p:sp>
    </p:spTree>
    <p:extLst>
      <p:ext uri="{BB962C8B-B14F-4D97-AF65-F5344CB8AC3E}">
        <p14:creationId xmlns:p14="http://schemas.microsoft.com/office/powerpoint/2010/main" val="705154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E8F39-DDF2-4ED6-B5AB-0CD27E6C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serve—observe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BD678-DCF8-4CAB-A64F-83C4DDE1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8675"/>
            <a:ext cx="11201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Give people and agents the same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1216E-752F-487C-AC04-4B4F6F3A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OPEN SOURCE  /  INFERENCE PERFORMANCE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15E02-ABD3-485D-A5AF-A3CD4E3E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D8AA4-F004-43FD-8548-7FF162C5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01  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16CFE-C762-4D1D-A42A-84C7CFCE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Collect NVIDIA DCGM and serving metrics outside the request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1CE93-651A-4250-B61B-1E23DEAC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02  Compare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554E2-9CBD-47FD-BB36-ECCFD769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Replay the same workload against baseline and candidate. Record paired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C0CEA-8CED-4427-8578-68C23F1B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0025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47D70"/>
                </a:solidFill>
                <a:latin typeface="Helvetica Neue"/>
                <a:ea typeface="Helvetica Neue"/>
                <a:cs typeface="Helvetica Neue"/>
              </a:rPr>
              <a:t>03 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D5B69-F243-465D-9064-986C053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14625"/>
            <a:ext cx="3190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Inspect latency, throughput, correctness claims and GPU coverage before keeping a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FC537-8E38-4D94-BF61-C2E260B3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1201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0352F"/>
                </a:solidFill>
                <a:latin typeface="Helvetica Neue"/>
                <a:ea typeface="Helvetica Neue"/>
                <a:cs typeface="Helvetica Neue"/>
              </a:rPr>
              <a:t>SQLite captures  →  JSON evidence  →  dashboard + optimization 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E6473-86DC-421C-B5C2-FFA28AA3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340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5726C"/>
                </a:solidFill>
                <a:latin typeface="Helvetica Neue"/>
                <a:ea typeface="Helvetica Neue"/>
                <a:cs typeface="Helvetica Neue"/>
              </a:rPr>
              <a:t>Alpha: real NVIDIA deployments still need hardware validation. Apple host counters are system-wide.</a:t>
            </a:r>
          </a:p>
        </p:txBody>
      </p:sp>
    </p:spTree>
    <p:extLst>
      <p:ext uri="{BB962C8B-B14F-4D97-AF65-F5344CB8AC3E}">
        <p14:creationId xmlns:p14="http://schemas.microsoft.com/office/powerpoint/2010/main" val="1433426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2026-10-08T19:59:11.0700000Z</dcterms:created>
  <dcterms:modified xsi:type="dcterms:W3CDTF">2026-10-08T19:59:11.0700000Z</dcterms:modified>
</coreProperties>
</file>